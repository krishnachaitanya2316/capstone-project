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7537" y="-223215"/>
            <a:ext cx="8689976" cy="2896746"/>
          </a:xfrm>
        </p:spPr>
        <p:txBody>
          <a:bodyPr/>
          <a:lstStyle/>
          <a:p>
            <a:r>
              <a:rPr lang="en-IN" dirty="0"/>
              <a:t>Agriculture Industry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47657" y="3283131"/>
            <a:ext cx="4588827" cy="1852749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SUBMITTED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BY</a:t>
            </a:r>
          </a:p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NAME : ONTEDDU KRISHNA CHAITANYA</a:t>
            </a:r>
          </a:p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REG NO : 24MBMA59</a:t>
            </a:r>
          </a:p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COURSE : MBA GENERAL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907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7715"/>
            <a:ext cx="10364451" cy="1306286"/>
          </a:xfrm>
        </p:spPr>
        <p:txBody>
          <a:bodyPr/>
          <a:lstStyle/>
          <a:p>
            <a:r>
              <a:rPr lang="en-US" b="1" dirty="0" smtClean="0"/>
              <a:t>Overview OF INDUSTRY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713476" y="1766456"/>
            <a:ext cx="10363826" cy="3424107"/>
          </a:xfrm>
        </p:spPr>
        <p:txBody>
          <a:bodyPr/>
          <a:lstStyle/>
          <a:p>
            <a:r>
              <a:rPr lang="en-US" dirty="0" smtClean="0"/>
              <a:t>Agriculture </a:t>
            </a:r>
            <a:r>
              <a:rPr lang="en-US" dirty="0"/>
              <a:t>is the backbone of India’s economy and sustains over 50% of the population.</a:t>
            </a:r>
          </a:p>
          <a:p>
            <a:r>
              <a:rPr lang="en-US" dirty="0"/>
              <a:t>However, challenges such as unpredictable weather, fluctuating market prices, inefficient supply chains, and fraudulent insurance claims limit productivity.</a:t>
            </a:r>
          </a:p>
          <a:p>
            <a:pPr lvl="0"/>
            <a:r>
              <a:rPr lang="en-US" altLang="en-US" cap="none" dirty="0">
                <a:latin typeface="Arial" panose="020B0604020202020204" pitchFamily="34" charset="0"/>
              </a:rPr>
              <a:t>With growing population and shrinking resources, there’s an urgent need for </a:t>
            </a:r>
            <a:r>
              <a:rPr lang="en-US" altLang="en-US" b="1" cap="none" dirty="0">
                <a:latin typeface="Arial" panose="020B0604020202020204" pitchFamily="34" charset="0"/>
              </a:rPr>
              <a:t>data-driven farming</a:t>
            </a:r>
            <a:r>
              <a:rPr lang="en-US" altLang="en-US" cap="none" dirty="0">
                <a:latin typeface="Arial" panose="020B0604020202020204" pitchFamily="34" charset="0"/>
              </a:rPr>
              <a:t> and </a:t>
            </a:r>
            <a:r>
              <a:rPr lang="en-US" altLang="en-US" b="1" cap="none" dirty="0">
                <a:latin typeface="Arial" panose="020B0604020202020204" pitchFamily="34" charset="0"/>
              </a:rPr>
              <a:t>smart resource management.</a:t>
            </a:r>
            <a:endParaRPr lang="en-US" altLang="en-US" cap="none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507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1"/>
            <a:ext cx="10364451" cy="1471748"/>
          </a:xfrm>
        </p:spPr>
        <p:txBody>
          <a:bodyPr/>
          <a:lstStyle/>
          <a:p>
            <a:r>
              <a:rPr lang="en-IN" dirty="0"/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740228" y="1584960"/>
            <a:ext cx="10458993" cy="467650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 b="1" dirty="0"/>
              <a:t>Problem Statement: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Farmers and stakeholders lack real-time insights to make informed decisions regarding crop yield, </a:t>
            </a:r>
            <a:r>
              <a:rPr lang="en-US" dirty="0"/>
              <a:t>pricing</a:t>
            </a:r>
            <a:r>
              <a:rPr lang="en-US" sz="1600" dirty="0"/>
              <a:t>, resource optimization, insurance fraud detection, and logistics planning.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/>
              <a:t>Objectives:</a:t>
            </a:r>
            <a:endParaRPr lang="en-US" sz="1600" dirty="0"/>
          </a:p>
          <a:p>
            <a:r>
              <a:rPr lang="en-US" sz="1600" dirty="0"/>
              <a:t>To estimate crop yield using environmental and soil data.</a:t>
            </a:r>
          </a:p>
          <a:p>
            <a:r>
              <a:rPr lang="en-US" sz="1600" dirty="0"/>
              <a:t>To forecast commodity prices using historical market data.</a:t>
            </a:r>
          </a:p>
          <a:p>
            <a:r>
              <a:rPr lang="en-US" sz="1600" dirty="0"/>
              <a:t>To monitor precision farming using </a:t>
            </a:r>
            <a:r>
              <a:rPr lang="en-US" sz="1600" dirty="0" smtClean="0"/>
              <a:t>ioT </a:t>
            </a:r>
            <a:r>
              <a:rPr lang="en-US" sz="1600" dirty="0"/>
              <a:t>and smart sensor readings.</a:t>
            </a:r>
          </a:p>
          <a:p>
            <a:r>
              <a:rPr lang="en-US" sz="1600" dirty="0"/>
              <a:t>To detect anomalies in agricultural insurance claims.</a:t>
            </a:r>
          </a:p>
          <a:p>
            <a:r>
              <a:rPr lang="en-US" sz="1600" dirty="0"/>
              <a:t>To optimize farm-to-fork supply chains using big data analytics.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/>
              <a:t>Scope:</a:t>
            </a:r>
            <a:endParaRPr lang="en-US" sz="1600" dirty="0"/>
          </a:p>
          <a:p>
            <a:r>
              <a:rPr lang="en-US" sz="1600" dirty="0"/>
              <a:t>The project integrates multiple analytics models and visual dashboards.</a:t>
            </a:r>
          </a:p>
          <a:p>
            <a:r>
              <a:rPr lang="en-US" sz="1600" dirty="0"/>
              <a:t>Built and deployed entirely on Databricks (PySpark, MLlib, Delta Tables).</a:t>
            </a:r>
          </a:p>
        </p:txBody>
      </p:sp>
    </p:spTree>
    <p:extLst>
      <p:ext uri="{BB962C8B-B14F-4D97-AF65-F5344CB8AC3E}">
        <p14:creationId xmlns:p14="http://schemas.microsoft.com/office/powerpoint/2010/main" val="3961929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624" y="0"/>
            <a:ext cx="10364451" cy="1596177"/>
          </a:xfrm>
        </p:spPr>
        <p:txBody>
          <a:bodyPr/>
          <a:lstStyle/>
          <a:p>
            <a:r>
              <a:rPr lang="en-IN" dirty="0"/>
              <a:t>Methodology and Architecture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502025" y="1620672"/>
            <a:ext cx="10583986" cy="4614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1800" b="1" dirty="0"/>
              <a:t>DATA SOURCE:</a:t>
            </a:r>
            <a:r>
              <a:rPr lang="en-IN" sz="1800" dirty="0"/>
              <a:t/>
            </a:r>
            <a:br>
              <a:rPr lang="en-IN" sz="1800" dirty="0"/>
            </a:br>
            <a:r>
              <a:rPr lang="en-IN" sz="1800" dirty="0"/>
              <a:t>AGRICULTURE.CSV – RECORD CONTAINING WEATHER, SOIL, IOT SENSOR, AND ECONOMIC PARAMETERS.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b="1" dirty="0"/>
              <a:t>TOOLS &amp; TECHNOLOGIES:</a:t>
            </a:r>
            <a:r>
              <a:rPr lang="en-IN" sz="1800" dirty="0"/>
              <a:t/>
            </a:r>
            <a:br>
              <a:rPr lang="en-IN" sz="1800" dirty="0"/>
            </a:br>
            <a:r>
              <a:rPr lang="en-IN" sz="1800" dirty="0"/>
              <a:t>PLATFORM: </a:t>
            </a:r>
            <a:r>
              <a:rPr lang="en-IN" sz="1600" dirty="0"/>
              <a:t>DATABRICKS</a:t>
            </a:r>
            <a:r>
              <a:rPr lang="en-IN" sz="1800" dirty="0"/>
              <a:t> (SPARK SQL, MLLIB, DELTA LAKE)</a:t>
            </a:r>
            <a:br>
              <a:rPr lang="en-IN" sz="1800" dirty="0"/>
            </a:br>
            <a:r>
              <a:rPr lang="en-IN" sz="1800" dirty="0"/>
              <a:t>TECHNIQUES: REGRESSION MODELING, ANOMALY DETECTION, FORECASTING, AND STATISTICAL ANALYSIS</a:t>
            </a:r>
            <a:br>
              <a:rPr lang="en-IN" sz="1800" dirty="0"/>
            </a:br>
            <a:r>
              <a:rPr lang="en-IN" sz="1800" dirty="0"/>
              <a:t>VISUALIZATION: DATABRICKS DASHBOARD FOR UNIFIED INSIGHTS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b="1" dirty="0"/>
              <a:t>ARCHITECTURE PIPELINE:</a:t>
            </a:r>
            <a:r>
              <a:rPr lang="en-IN" sz="1800" dirty="0"/>
              <a:t/>
            </a:r>
            <a:br>
              <a:rPr lang="en-IN" sz="1800" dirty="0"/>
            </a:br>
            <a:r>
              <a:rPr lang="en-IN" sz="1800" dirty="0"/>
              <a:t>DATA INGESTION: LOAD AND CLEAN AGRICULTURAL DATA FROM UNITY CATALOG VOLUMES.</a:t>
            </a:r>
            <a:br>
              <a:rPr lang="en-IN" sz="1800" dirty="0"/>
            </a:br>
            <a:r>
              <a:rPr lang="en-IN" sz="1800" dirty="0"/>
              <a:t>DATA PREPARATION: HANDLE MISSING VALUES, NORMALIZE SENSOR AND CLIMATE METRICS.</a:t>
            </a:r>
            <a:br>
              <a:rPr lang="en-IN" sz="1800" dirty="0"/>
            </a:br>
            <a:r>
              <a:rPr lang="en-IN" sz="1800" dirty="0"/>
              <a:t>MODEL BUILDING: TRAIN ML MODELS FOR YIELD, FRAUD, AND PRICING.</a:t>
            </a:r>
            <a:br>
              <a:rPr lang="en-IN" sz="1800" dirty="0"/>
            </a:br>
            <a:r>
              <a:rPr lang="en-IN" sz="1800" dirty="0"/>
              <a:t>ANALYTICS EXECUTION: RUN FIVE USE-CASE-SPECIFIC PIPELINES.</a:t>
            </a:r>
            <a:br>
              <a:rPr lang="en-IN" sz="1800" dirty="0"/>
            </a:br>
            <a:r>
              <a:rPr lang="en-IN" sz="1800" dirty="0"/>
              <a:t>VISUALIZATION: OUTPUT DELTA TABLES INTEGRATED INTO AN INTERACTIVE DASHBOARD.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553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891" y="0"/>
            <a:ext cx="10259323" cy="1649506"/>
          </a:xfrm>
        </p:spPr>
        <p:txBody>
          <a:bodyPr/>
          <a:lstStyle/>
          <a:p>
            <a:r>
              <a:rPr lang="en-US" dirty="0"/>
              <a:t>Analysis, Results, and Key Insights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670671165"/>
              </p:ext>
            </p:extLst>
          </p:nvPr>
        </p:nvGraphicFramePr>
        <p:xfrm>
          <a:off x="600890" y="1649506"/>
          <a:ext cx="10590214" cy="457213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18676"/>
                <a:gridCol w="3535769"/>
                <a:gridCol w="3535769"/>
              </a:tblGrid>
              <a:tr h="457331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Use Case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Analysis Type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Key Result / Insight</a:t>
                      </a:r>
                      <a:endParaRPr lang="en-IN" sz="2000" dirty="0"/>
                    </a:p>
                  </a:txBody>
                  <a:tcPr/>
                </a:tc>
              </a:tr>
              <a:tr h="972937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Crop Yield Estimation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Linear Regression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Rainfall &amp; soil health most impact yield. Predictive accuracy: ~85%.</a:t>
                      </a:r>
                      <a:endParaRPr lang="en-IN" sz="2000" dirty="0"/>
                    </a:p>
                  </a:txBody>
                  <a:tcPr/>
                </a:tc>
              </a:tr>
              <a:tr h="972937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Commodity Price Forecasting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Time-based Forecasting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Price trends identified for major crops (Cotton, Rice). Helps plan procurement.</a:t>
                      </a:r>
                      <a:endParaRPr lang="en-IN" sz="2000" dirty="0"/>
                    </a:p>
                  </a:txBody>
                  <a:tcPr/>
                </a:tc>
              </a:tr>
              <a:tr h="678108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Precision Farming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IoT Sensor Analytics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Soil moisture and temperature deviations auto-flag anomalies.</a:t>
                      </a:r>
                      <a:endParaRPr lang="en-IN" sz="2000" dirty="0"/>
                    </a:p>
                  </a:txBody>
                  <a:tcPr/>
                </a:tc>
              </a:tr>
              <a:tr h="678108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Agri-Insurance Fraud Detection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Random Forest Classifier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Detected ~12% suspicious claims with high claim-to-yield ratios.</a:t>
                      </a:r>
                      <a:endParaRPr lang="en-IN" sz="2000" dirty="0"/>
                    </a:p>
                  </a:txBody>
                  <a:tcPr/>
                </a:tc>
              </a:tr>
              <a:tr h="678108">
                <a:tc>
                  <a:txBody>
                    <a:bodyPr/>
                    <a:lstStyle/>
                    <a:p>
                      <a:r>
                        <a:rPr lang="en-IN" sz="2000" smtClean="0"/>
                        <a:t>EOQ, ROP Calculations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EOQ, ROP Calculations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Reduced lead time by ~18%, improved supplier reliability.</a:t>
                      </a:r>
                      <a:endParaRPr lang="en-IN" sz="20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4988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642" y="0"/>
            <a:ext cx="10652585" cy="1090863"/>
          </a:xfrm>
        </p:spPr>
        <p:txBody>
          <a:bodyPr/>
          <a:lstStyle/>
          <a:p>
            <a:r>
              <a:rPr lang="en-IN" dirty="0"/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834189" y="1283368"/>
            <a:ext cx="10443411" cy="5117432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600" b="1" dirty="0"/>
              <a:t>Conclusion:</a:t>
            </a:r>
            <a:endParaRPr lang="en-US" sz="2600" dirty="0"/>
          </a:p>
          <a:p>
            <a:r>
              <a:rPr lang="en-US" sz="2600" dirty="0"/>
              <a:t>Big Data Analytics provides a holistic framework for improving agricultural productivity and profitability.</a:t>
            </a:r>
          </a:p>
          <a:p>
            <a:r>
              <a:rPr lang="en-US" sz="2600" dirty="0"/>
              <a:t>Predictive modeling, IoT integration, and supply chain analytics can transform traditional farming into </a:t>
            </a:r>
            <a:r>
              <a:rPr lang="en-US" sz="2600" b="1" dirty="0"/>
              <a:t>data-driven agriculture</a:t>
            </a:r>
            <a:r>
              <a:rPr lang="en-US" sz="2600" dirty="0"/>
              <a:t>.</a:t>
            </a:r>
          </a:p>
          <a:p>
            <a:r>
              <a:rPr lang="en-US" sz="2600" dirty="0"/>
              <a:t>The solution offers measurable value across yield prediction, pricing, fraud detection, and logistics.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b="1" dirty="0"/>
              <a:t>Future Scope:</a:t>
            </a:r>
            <a:endParaRPr lang="en-US" sz="2600" dirty="0"/>
          </a:p>
          <a:p>
            <a:r>
              <a:rPr lang="en-US" sz="2600" dirty="0"/>
              <a:t>Integrate </a:t>
            </a:r>
            <a:r>
              <a:rPr lang="en-US" sz="2600" b="1" dirty="0"/>
              <a:t>real-time IoT sensor streaming</a:t>
            </a:r>
            <a:r>
              <a:rPr lang="en-US" sz="2600" dirty="0"/>
              <a:t> from farms.</a:t>
            </a:r>
          </a:p>
          <a:p>
            <a:r>
              <a:rPr lang="en-US" sz="2600" dirty="0"/>
              <a:t>Deploy models through </a:t>
            </a:r>
            <a:r>
              <a:rPr lang="en-US" sz="2600" b="1" dirty="0" err="1"/>
              <a:t>MLflow</a:t>
            </a:r>
            <a:r>
              <a:rPr lang="en-US" sz="2600" b="1" dirty="0"/>
              <a:t> for real-time decision support</a:t>
            </a:r>
            <a:r>
              <a:rPr lang="en-US" sz="2600" dirty="0"/>
              <a:t>.</a:t>
            </a:r>
          </a:p>
          <a:p>
            <a:r>
              <a:rPr lang="en-US" sz="2600" dirty="0"/>
              <a:t>Expand coverage to regional and seasonal datasets for higher model precision.</a:t>
            </a:r>
          </a:p>
          <a:p>
            <a:r>
              <a:rPr lang="en-US" sz="2600" dirty="0"/>
              <a:t>Introduce </a:t>
            </a:r>
            <a:r>
              <a:rPr lang="en-US" sz="2600" b="1" dirty="0"/>
              <a:t>AI-based decision recommendation systems</a:t>
            </a:r>
            <a:r>
              <a:rPr lang="en-US" sz="2600" dirty="0"/>
              <a:t> for farmers.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b="1" dirty="0"/>
              <a:t>Final Outcome:</a:t>
            </a:r>
            <a:r>
              <a:rPr lang="en-US" sz="2600" dirty="0"/>
              <a:t/>
            </a:r>
            <a:br>
              <a:rPr lang="en-US" sz="2600" dirty="0"/>
            </a:br>
            <a:r>
              <a:rPr lang="en-US" sz="2600" dirty="0"/>
              <a:t>A unified, end-to-end </a:t>
            </a:r>
            <a:r>
              <a:rPr lang="en-US" sz="2600" b="1" dirty="0"/>
              <a:t>Big Data Agriculture Analytics System</a:t>
            </a:r>
            <a:r>
              <a:rPr lang="en-US" sz="2600" dirty="0"/>
              <a:t> implemented on Databricks — demonstrating real-world scalability and innovation.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1247229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64</TotalTime>
  <Words>293</Words>
  <Application>Microsoft Office PowerPoint</Application>
  <PresentationFormat>Widescreen</PresentationFormat>
  <Paragraphs>54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Tw Cen MT</vt:lpstr>
      <vt:lpstr>Wingdings</vt:lpstr>
      <vt:lpstr>Droplet</vt:lpstr>
      <vt:lpstr>Agriculture Industry</vt:lpstr>
      <vt:lpstr>Overview OF INDUSTRY</vt:lpstr>
      <vt:lpstr>Problem Statement &amp; Objectives</vt:lpstr>
      <vt:lpstr>Methodology and Architecture</vt:lpstr>
      <vt:lpstr>Analysis, Results, and Key Insights</vt:lpstr>
      <vt:lpstr>Conclusion &amp; Future Scope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8</cp:revision>
  <dcterms:created xsi:type="dcterms:W3CDTF">2025-11-10T18:50:07Z</dcterms:created>
  <dcterms:modified xsi:type="dcterms:W3CDTF">2025-11-11T15:27:53Z</dcterms:modified>
</cp:coreProperties>
</file>